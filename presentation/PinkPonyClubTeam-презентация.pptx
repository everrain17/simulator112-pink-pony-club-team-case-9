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376" r:id="rId2"/>
    <p:sldId id="365" r:id="rId3"/>
    <p:sldId id="366" r:id="rId4"/>
    <p:sldId id="362" r:id="rId5"/>
    <p:sldId id="364" r:id="rId6"/>
    <p:sldId id="375" r:id="rId7"/>
    <p:sldId id="377" r:id="rId8"/>
    <p:sldId id="378" r:id="rId9"/>
    <p:sldId id="379" r:id="rId10"/>
    <p:sldId id="380" r:id="rId1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язательные слайды" id="{248E5CD8-1028-4246-90C7-3263F7F286D3}">
          <p14:sldIdLst>
            <p14:sldId id="376"/>
            <p14:sldId id="365"/>
            <p14:sldId id="366"/>
            <p14:sldId id="362"/>
            <p14:sldId id="364"/>
            <p14:sldId id="375"/>
            <p14:sldId id="377"/>
            <p14:sldId id="378"/>
            <p14:sldId id="379"/>
            <p14:sldId id="380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83" d="100"/>
          <a:sy n="83" d="100"/>
        </p:scale>
        <p:origin x="614" y="8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mailto:drevonenko@gmail.com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4984" y="406400"/>
            <a:ext cx="3047924" cy="533400"/>
          </a:xfrm>
          <a:prstGeom prst="roundRect">
            <a:avLst>
              <a:gd name="adj" fmla="val 26142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/>
          <p:nvPr/>
        </p:nvSpPr>
        <p:spPr>
          <a:xfrm>
            <a:off x="692133" y="406400"/>
            <a:ext cx="2933627" cy="340320"/>
          </a:xfrm>
          <a:prstGeom prst="rect">
            <a:avLst/>
          </a:prstGeom>
          <a:noFill/>
          <a:ln/>
        </p:spPr>
        <p:txBody>
          <a:bodyPr wrap="square" lIns="0" tIns="126997" rIns="0" bIns="0" rtlCol="0" anchor="t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ПРОЕКТ ХАКАТОНА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34984" y="1193800"/>
            <a:ext cx="10921727" cy="4826000"/>
          </a:xfrm>
          <a:prstGeom prst="roundRect">
            <a:avLst>
              <a:gd name="adj" fmla="val 5684"/>
            </a:avLst>
          </a:prstGeom>
          <a:solidFill>
            <a:srgbClr val="FFFFFF"/>
          </a:solidFill>
          <a:ln/>
          <a:effectLst>
            <a:outerShdw blurRad="316230" dist="12573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93770" y="1651000"/>
            <a:ext cx="10413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ИНТЕРАКТИВНАЯ ТРЕНИРОВОЧНАЯ СИСТЕМА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93770" y="2308225"/>
            <a:ext cx="9804155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Симулятор-112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193770" y="3326110"/>
            <a:ext cx="980415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2D114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 для операторов службы 112 с голосовым ИИ-заявителем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62819" y="4204219"/>
            <a:ext cx="9804056" cy="50701"/>
          </a:xfrm>
          <a:prstGeom prst="roundRect">
            <a:avLst>
              <a:gd name="adj" fmla="val 49999"/>
            </a:avLst>
          </a:prstGeom>
          <a:solidFill>
            <a:srgbClr val="FF0053"/>
          </a:solidFill>
          <a:ln/>
        </p:spPr>
      </p:sp>
      <p:sp>
        <p:nvSpPr>
          <p:cNvPr id="9" name="Text 7"/>
          <p:cNvSpPr/>
          <p:nvPr/>
        </p:nvSpPr>
        <p:spPr>
          <a:xfrm>
            <a:off x="692133" y="4558558"/>
            <a:ext cx="10413739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268288"/>
            <a:r>
              <a:rPr lang="en-US" sz="14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Направление: </a:t>
            </a:r>
            <a:r>
              <a:rPr lang="ru-RU" sz="1400" dirty="0"/>
              <a:t>Задача №9 - Учебный симулятор подготовки диспетчеров экстренных служб города по вызовам от системы 112</a:t>
            </a:r>
          </a:p>
        </p:txBody>
      </p:sp>
      <p:sp>
        <p:nvSpPr>
          <p:cNvPr id="10" name="Text 8"/>
          <p:cNvSpPr/>
          <p:nvPr/>
        </p:nvSpPr>
        <p:spPr>
          <a:xfrm>
            <a:off x="962819" y="4983066"/>
            <a:ext cx="10413739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стек: C#/.NET · FastAPI · PostgreSQL · Redis · Silero TTS · Local LLM · PySide6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16330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en-US" sz="4800" dirty="0" smtClean="0"/>
              <a:t>PINK PONY CLUB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147782" y="5503675"/>
            <a:ext cx="12626109" cy="757174"/>
          </a:xfrm>
        </p:spPr>
        <p:txBody>
          <a:bodyPr anchor="ctr"/>
          <a:lstStyle/>
          <a:p>
            <a:pPr indent="268288"/>
            <a:r>
              <a:rPr lang="ru-RU" dirty="0" smtClean="0"/>
              <a:t>Задача №9 - </a:t>
            </a:r>
            <a:r>
              <a:rPr lang="ru-RU" dirty="0"/>
              <a:t>Учебный симулятор подготовки диспетчеров экстренных служб города по вызовам от системы 112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Image 9" descr=" ">
            <a:extLst>
              <a:ext uri="{FF2B5EF4-FFF2-40B4-BE49-F238E27FC236}">
                <a16:creationId xmlns:a16="http://schemas.microsoft.com/office/drawing/2014/main" id="{D5DDF271-E4E3-B388-D580-C60AF5FE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9" y="534416"/>
            <a:ext cx="4466708" cy="998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-25280" y="2927343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уровнем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карточки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происшествия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фактическая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—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цикл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звонка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err="1" smtClean="0">
                <a:solidFill>
                  <a:schemeClr val="tx1"/>
                </a:solidFill>
              </a:rPr>
              <a:t>Ревоненко</a:t>
            </a:r>
            <a:r>
              <a:rPr lang="ru-RU" dirty="0" smtClean="0">
                <a:solidFill>
                  <a:schemeClr val="tx1"/>
                </a:solidFill>
              </a:rPr>
              <a:t> Данил Дмитриевич, Прикладная математика и информатика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 smtClean="0">
                <a:solidFill>
                  <a:schemeClr val="tx1"/>
                </a:solidFill>
              </a:rPr>
              <a:t>3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lang="ru-RU" b="1" dirty="0" smtClean="0">
              <a:solidFill>
                <a:schemeClr val="tx1"/>
              </a:solidFill>
            </a:endParaRPr>
          </a:p>
          <a:p>
            <a:pPr mar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	</a:t>
            </a:r>
            <a:r>
              <a:rPr lang="en-US" dirty="0" err="1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r>
              <a:rPr lang="en-US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развивает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интерактивный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r>
              <a:rPr lang="ru-RU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Все члены команды обучаются в АГУ,   Г. Майкоп</a:t>
            </a:r>
            <a:endParaRPr lang="en-US"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mtClean="0">
                <a:solidFill>
                  <a:schemeClr val="tx1"/>
                </a:solidFill>
              </a:rPr>
              <a:t>Город </a:t>
            </a:r>
            <a:r>
              <a:rPr lang="ru-RU" b="1" dirty="0">
                <a:solidFill>
                  <a:schemeClr val="tx1"/>
                </a:solidFill>
              </a:rPr>
              <a:t>и регион</a:t>
            </a:r>
            <a:r>
              <a:rPr lang="ru-RU" b="1" dirty="0" smtClean="0">
                <a:solidFill>
                  <a:schemeClr val="tx1"/>
                </a:solidFill>
              </a:rPr>
              <a:t>: Республика Адыгея, </a:t>
            </a:r>
            <a:r>
              <a:rPr lang="ru-RU" b="1" dirty="0" err="1" smtClean="0">
                <a:solidFill>
                  <a:schemeClr val="tx1"/>
                </a:solidFill>
              </a:rPr>
              <a:t>Г.Майкоп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Команда 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/>
            </a:r>
            <a:br>
              <a:rPr lang="en-US" sz="2400" dirty="0" smtClean="0">
                <a:solidFill>
                  <a:schemeClr val="accent5"/>
                </a:solidFill>
                <a:latin typeface="+mn-lt"/>
              </a:rPr>
            </a:b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“Pink Pony Club”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Системы-112,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который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прогоняет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реалистичные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голосовые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звонки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заявителей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оценивает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действия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выдаёт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подробную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обратную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3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31083" cy="2927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549927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722211" y="423301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Backend Python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FlammaBellum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</a:t>
            </a:r>
            <a:r>
              <a:rPr lang="ru-RU" sz="1200" dirty="0" smtClean="0">
                <a:solidFill>
                  <a:schemeClr val="tx1"/>
                </a:solidFill>
              </a:rPr>
              <a:t>79282116493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722210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Буряченко Александр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37653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09937" y="423301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AI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nedhog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+7 962 766 </a:t>
            </a:r>
            <a:r>
              <a:rPr lang="ru-RU" sz="1200" dirty="0" smtClean="0">
                <a:solidFill>
                  <a:schemeClr val="tx1"/>
                </a:solidFill>
              </a:rPr>
              <a:t>3488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09936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Белова </a:t>
            </a: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Ева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76613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107" y="6410229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4931" b="4931"/>
          <a:stretch>
            <a:fillRect/>
          </a:stretch>
        </p:blipFill>
        <p:spPr>
          <a:xfrm>
            <a:off x="412256" y="1799091"/>
            <a:ext cx="1722437" cy="1552575"/>
          </a:xfrm>
          <a:prstGeom prst="rect">
            <a:avLst/>
          </a:prstGeom>
        </p:spPr>
      </p:pic>
      <p:pic>
        <p:nvPicPr>
          <p:cNvPr id="14" name="Рисунок 13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253" b="5253"/>
          <a:stretch>
            <a:fillRect/>
          </a:stretch>
        </p:blipFill>
        <p:spPr>
          <a:xfrm>
            <a:off x="2785721" y="1810204"/>
            <a:ext cx="1722437" cy="1541462"/>
          </a:xfrm>
          <a:prstGeom prst="rect">
            <a:avLst/>
          </a:prstGeom>
        </p:spPr>
      </p:pic>
      <p:pic>
        <p:nvPicPr>
          <p:cNvPr id="10" name="Рисунок 9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4788" b="4788"/>
          <a:stretch>
            <a:fillRect/>
          </a:stretch>
        </p:blipFill>
        <p:spPr>
          <a:xfrm>
            <a:off x="5172009" y="1792741"/>
            <a:ext cx="1724025" cy="1558925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dirty="0" smtClean="0">
                <a:latin typeface="+mn-lt"/>
              </a:rPr>
              <a:t>Команда «</a:t>
            </a:r>
            <a:r>
              <a:rPr lang="en-US" dirty="0" smtClean="0">
                <a:latin typeface="+mn-lt"/>
              </a:rPr>
              <a:t>Pink Pony Club</a:t>
            </a:r>
            <a:r>
              <a:rPr lang="ru-RU" dirty="0" smtClean="0">
                <a:latin typeface="+mn-lt"/>
              </a:rPr>
              <a:t>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8897" y="4233019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FullStack</a:t>
            </a:r>
            <a:r>
              <a:rPr lang="en-US" sz="1200" dirty="0" smtClean="0">
                <a:solidFill>
                  <a:schemeClr val="tx1"/>
                </a:solidFill>
              </a:rPr>
              <a:t>, C# Backend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@Everrain_17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+79628779893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Адыгейский Государственный Университет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48896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Ревоненко</a:t>
            </a:r>
            <a:r>
              <a:rPr lang="ru-RU" sz="1600" b="1" dirty="0" smtClean="0">
                <a:solidFill>
                  <a:schemeClr val="accent5"/>
                </a:solidFill>
              </a:rPr>
              <a:t> Данил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7364722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7537006" y="4216010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Отсутствовала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22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7537005" y="3588100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Суходолова</a:t>
            </a:r>
            <a:endParaRPr lang="ru-RU" sz="1600" b="1" dirty="0" smtClean="0">
              <a:solidFill>
                <a:schemeClr val="accent5"/>
              </a:solidFill>
            </a:endParaRP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Юлия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9806974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9979258" y="423301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Отсутствовал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25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9979257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Арабчиков</a:t>
            </a:r>
            <a:endParaRPr lang="ru-RU" sz="1600" b="1" dirty="0" smtClean="0">
              <a:solidFill>
                <a:schemeClr val="accent5"/>
              </a:solidFill>
            </a:endParaRP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Михаэль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dirty="0"/>
              <a:t>Команда «</a:t>
            </a:r>
            <a:r>
              <a:rPr lang="en-US" dirty="0"/>
              <a:t>Pink Pony Club</a:t>
            </a:r>
            <a:r>
              <a:rPr lang="ru-RU" dirty="0"/>
              <a:t>»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объединилась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вокруг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имеют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опыт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в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прикладном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машинном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backend-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речевых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технологиях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вызов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совместить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паникующего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задержкой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(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адресация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Разделили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модуль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Сделать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112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эффективнее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счёт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симуляции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стрессового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заявителей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Симулятор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C#/.NET (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SimCore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):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генератор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происшествий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сценариев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AIEngine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диалоговый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LLM с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синтезом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Silero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TTS.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(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пострадавшие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стиль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Серверная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/PostgreSQL/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десктопные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повышает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подготовки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реальных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людей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вместо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долгого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ручного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прослушивания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записей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методистом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новичков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стрессовым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ситуациям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редким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типам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ЧС в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учебной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4985" y="205730"/>
            <a:ext cx="4889378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628" y="355600"/>
            <a:ext cx="6210145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ПРОБЛЕМА И КАК РАБОТАЕТ РЕШЕНИЕ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4984" y="1092200"/>
            <a:ext cx="5206870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52476" y="1384300"/>
            <a:ext cx="4571886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Текущие проблемы подготовки</a:t>
            </a:r>
            <a:endParaRPr lang="en-US" sz="1900" dirty="0"/>
          </a:p>
        </p:txBody>
      </p:sp>
      <p:sp>
        <p:nvSpPr>
          <p:cNvPr id="26" name="Text 4"/>
          <p:cNvSpPr/>
          <p:nvPr/>
        </p:nvSpPr>
        <p:spPr>
          <a:xfrm>
            <a:off x="952476" y="2007195"/>
            <a:ext cx="4571886" cy="2996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Скучные и статичные скрипты: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операторы учатся по бумажным методичкам, которые не передают стресс реального звонка.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Нехватка редких сценариев: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невозможно безопасно отработать панику, угрозы или комплексные техногенные аварии на живых звонках.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Субъективность и трудоёмкость: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методисты тратят часы на ручное прослушивание записей, оценка часто оказывается неполной.</a:t>
            </a:r>
            <a:endParaRPr lang="en-US" sz="1800" dirty="0"/>
          </a:p>
        </p:txBody>
      </p:sp>
      <p:sp>
        <p:nvSpPr>
          <p:cNvPr id="27" name="Shape 5"/>
          <p:cNvSpPr/>
          <p:nvPr/>
        </p:nvSpPr>
        <p:spPr>
          <a:xfrm>
            <a:off x="6095848" y="1092200"/>
            <a:ext cx="5460863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8" name="Text 6"/>
          <p:cNvSpPr/>
          <p:nvPr/>
        </p:nvSpPr>
        <p:spPr>
          <a:xfrm>
            <a:off x="6413340" y="1384300"/>
            <a:ext cx="4825879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работает «Симулятор-112»</a:t>
            </a:r>
            <a:endParaRPr lang="en-US" sz="1900" dirty="0"/>
          </a:p>
        </p:txBody>
      </p:sp>
      <p:sp>
        <p:nvSpPr>
          <p:cNvPr id="29" name="Text 7"/>
          <p:cNvSpPr/>
          <p:nvPr/>
        </p:nvSpPr>
        <p:spPr>
          <a:xfrm>
            <a:off x="6413340" y="2007195"/>
            <a:ext cx="4825879" cy="359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Генерация сценария: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движок задаёт легенду происшествия, скрытые факты и уровень паники заявителя.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2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Голосовой диалог: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 отвечает в микрофон, локальная LLM генерирует реплику, а Silero TTS мгновенно озвучивает ответ.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3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Заполнение карточки: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курсант фиксирует адрес, службы и детали по регламенту ДДС в реальном времени.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4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ИИ-аудит и отчёт: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автоматический расчёт баллов по чек-листу регламента с рекомендациями методиста.</a:t>
            </a:r>
            <a:endParaRPr lang="en-US" sz="1800" dirty="0"/>
          </a:p>
        </p:txBody>
      </p:sp>
      <p:sp>
        <p:nvSpPr>
          <p:cNvPr id="30" name="Text 8"/>
          <p:cNvSpPr/>
          <p:nvPr/>
        </p:nvSpPr>
        <p:spPr>
          <a:xfrm>
            <a:off x="11647742" y="6447582"/>
            <a:ext cx="543953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endParaRPr lang="en-US" sz="1200" dirty="0"/>
          </a:p>
        </p:txBody>
      </p:sp>
      <p:sp>
        <p:nvSpPr>
          <p:cNvPr id="44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7013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0"/>
          <p:cNvSpPr/>
          <p:nvPr/>
        </p:nvSpPr>
        <p:spPr>
          <a:xfrm>
            <a:off x="634984" y="355600"/>
            <a:ext cx="5333867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50" name="Text 1"/>
          <p:cNvSpPr/>
          <p:nvPr/>
        </p:nvSpPr>
        <p:spPr>
          <a:xfrm>
            <a:off x="882628" y="355600"/>
            <a:ext cx="582915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АРХИТЕКТУРА И ТЕХНОЛОГИИ</a:t>
            </a:r>
            <a:endParaRPr lang="en-US" sz="1700" dirty="0"/>
          </a:p>
        </p:txBody>
      </p:sp>
      <p:sp>
        <p:nvSpPr>
          <p:cNvPr id="51" name="Shape 2"/>
          <p:cNvSpPr/>
          <p:nvPr/>
        </p:nvSpPr>
        <p:spPr>
          <a:xfrm>
            <a:off x="634984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52" name="Shape 3"/>
          <p:cNvSpPr/>
          <p:nvPr/>
        </p:nvSpPr>
        <p:spPr>
          <a:xfrm>
            <a:off x="634984" y="1092200"/>
            <a:ext cx="3428914" cy="63500"/>
          </a:xfrm>
          <a:prstGeom prst="rect">
            <a:avLst/>
          </a:prstGeom>
          <a:solidFill>
            <a:srgbClr val="520977"/>
          </a:solidFill>
          <a:ln/>
        </p:spPr>
      </p:sp>
      <p:sp>
        <p:nvSpPr>
          <p:cNvPr id="53" name="Text 4"/>
          <p:cNvSpPr/>
          <p:nvPr/>
        </p:nvSpPr>
        <p:spPr>
          <a:xfrm>
            <a:off x="863578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Движок симуляции</a:t>
            </a:r>
            <a:endParaRPr lang="en-US" sz="1600" dirty="0"/>
          </a:p>
        </p:txBody>
      </p:sp>
      <p:sp>
        <p:nvSpPr>
          <p:cNvPr id="54" name="Text 5"/>
          <p:cNvSpPr/>
          <p:nvPr/>
        </p:nvSpPr>
        <p:spPr>
          <a:xfrm>
            <a:off x="863578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SimCore</a:t>
            </a:r>
            <a:r>
              <a:rPr lang="en-US" sz="12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(C# / .NET)</a:t>
            </a:r>
            <a:endParaRPr lang="en-US" sz="1200" dirty="0"/>
          </a:p>
        </p:txBody>
      </p:sp>
      <p:sp>
        <p:nvSpPr>
          <p:cNvPr id="55" name="Text 6"/>
          <p:cNvSpPr/>
          <p:nvPr/>
        </p:nvSpPr>
        <p:spPr>
          <a:xfrm>
            <a:off x="863578" y="2318941"/>
            <a:ext cx="2971726" cy="2696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IncidentGenerator: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процедурная генерация вызовов и ЧС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ClassifierLoader: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справочники служб и классификаторы ДДС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TeacherEngine: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управление ходом учебных сценариев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OperatorAuditEngine: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базовый движок аудита действий</a:t>
            </a:r>
            <a:endParaRPr lang="en-US" sz="1800" dirty="0"/>
          </a:p>
        </p:txBody>
      </p:sp>
      <p:sp>
        <p:nvSpPr>
          <p:cNvPr id="56" name="Shape 7"/>
          <p:cNvSpPr/>
          <p:nvPr/>
        </p:nvSpPr>
        <p:spPr>
          <a:xfrm>
            <a:off x="4381390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57" name="Shape 8"/>
          <p:cNvSpPr/>
          <p:nvPr/>
        </p:nvSpPr>
        <p:spPr>
          <a:xfrm>
            <a:off x="4381390" y="1092200"/>
            <a:ext cx="3428914" cy="63500"/>
          </a:xfrm>
          <a:prstGeom prst="rect">
            <a:avLst/>
          </a:prstGeom>
          <a:solidFill>
            <a:srgbClr val="FF0053"/>
          </a:solidFill>
          <a:ln/>
        </p:spPr>
      </p:sp>
      <p:sp>
        <p:nvSpPr>
          <p:cNvPr id="58" name="Text 9"/>
          <p:cNvSpPr/>
          <p:nvPr/>
        </p:nvSpPr>
        <p:spPr>
          <a:xfrm>
            <a:off x="4609985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ИИ и синтез речи</a:t>
            </a:r>
            <a:endParaRPr lang="en-US" sz="1600" dirty="0"/>
          </a:p>
        </p:txBody>
      </p:sp>
      <p:sp>
        <p:nvSpPr>
          <p:cNvPr id="59" name="Text 10"/>
          <p:cNvSpPr/>
          <p:nvPr/>
        </p:nvSpPr>
        <p:spPr>
          <a:xfrm>
            <a:off x="4609985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AIEngine</a:t>
            </a:r>
            <a:r>
              <a:rPr lang="en-US" sz="12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(Python / Local LLM)</a:t>
            </a:r>
            <a:endParaRPr lang="en-US" sz="1200" dirty="0"/>
          </a:p>
        </p:txBody>
      </p:sp>
      <p:sp>
        <p:nvSpPr>
          <p:cNvPr id="60" name="Text 11"/>
          <p:cNvSpPr/>
          <p:nvPr/>
        </p:nvSpPr>
        <p:spPr>
          <a:xfrm>
            <a:off x="4609985" y="2318941"/>
            <a:ext cx="2971726" cy="3245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AiPromptBuilder: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динамический контекст, персонаж и паника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AiClient: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локальная LLM через OpenAI-совместимый streaming API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TtsService: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потоковый синтез русской речи на Silero TTS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 изолированный микросервис TTS для минимальной задержки</a:t>
            </a:r>
            <a:endParaRPr lang="en-US" sz="1800" dirty="0"/>
          </a:p>
        </p:txBody>
      </p:sp>
      <p:sp>
        <p:nvSpPr>
          <p:cNvPr id="61" name="Shape 12"/>
          <p:cNvSpPr/>
          <p:nvPr/>
        </p:nvSpPr>
        <p:spPr>
          <a:xfrm>
            <a:off x="8127797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62" name="Shape 13"/>
          <p:cNvSpPr/>
          <p:nvPr/>
        </p:nvSpPr>
        <p:spPr>
          <a:xfrm>
            <a:off x="8127797" y="1092200"/>
            <a:ext cx="3428914" cy="63500"/>
          </a:xfrm>
          <a:prstGeom prst="rect">
            <a:avLst/>
          </a:prstGeom>
          <a:solidFill>
            <a:srgbClr val="753A93"/>
          </a:solidFill>
          <a:ln/>
        </p:spPr>
      </p:sp>
      <p:sp>
        <p:nvSpPr>
          <p:cNvPr id="63" name="Text 14"/>
          <p:cNvSpPr/>
          <p:nvPr/>
        </p:nvSpPr>
        <p:spPr>
          <a:xfrm>
            <a:off x="8356391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53A9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Сервер и клиенты</a:t>
            </a:r>
            <a:endParaRPr lang="en-US" sz="1600" dirty="0"/>
          </a:p>
        </p:txBody>
      </p:sp>
      <p:sp>
        <p:nvSpPr>
          <p:cNvPr id="64" name="Text 15"/>
          <p:cNvSpPr/>
          <p:nvPr/>
        </p:nvSpPr>
        <p:spPr>
          <a:xfrm>
            <a:off x="8356391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serv-112 &amp; Clients</a:t>
            </a:r>
            <a:endParaRPr lang="en-US" sz="1200" dirty="0"/>
          </a:p>
        </p:txBody>
      </p:sp>
      <p:sp>
        <p:nvSpPr>
          <p:cNvPr id="65" name="Text 16"/>
          <p:cNvSpPr/>
          <p:nvPr/>
        </p:nvSpPr>
        <p:spPr>
          <a:xfrm>
            <a:off x="8356391" y="2318941"/>
            <a:ext cx="2971726" cy="3245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FastAPI, сессии в Redis, хранилище PostgreSQL с Alembic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admin_tool: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десктоп-панель на PySide6 (пользователи, аудит, бэкапы, Docker)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Десктоп-клиенты для рабочего места студента и пульта преподавателя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Изолированное развёртывание в Docker-контейнерах</a:t>
            </a:r>
            <a:endParaRPr lang="en-US" sz="1800" dirty="0"/>
          </a:p>
        </p:txBody>
      </p:sp>
      <p:sp>
        <p:nvSpPr>
          <p:cNvPr id="66" name="Text 17"/>
          <p:cNvSpPr/>
          <p:nvPr/>
        </p:nvSpPr>
        <p:spPr>
          <a:xfrm>
            <a:off x="11644021" y="6447582"/>
            <a:ext cx="547674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200" dirty="0"/>
          </a:p>
        </p:txBody>
      </p:sp>
      <p:sp>
        <p:nvSpPr>
          <p:cNvPr id="68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655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4984" y="255290"/>
            <a:ext cx="4463489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628" y="355600"/>
            <a:ext cx="6210145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ОЦЕНКА ОПЕРАТОРА И ЦЕННОСТЬ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4984" y="1092200"/>
            <a:ext cx="5270368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52476" y="1384300"/>
            <a:ext cx="46353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Критерии оценки по регламенту</a:t>
            </a:r>
            <a:endParaRPr lang="en-US" sz="1800" dirty="0"/>
          </a:p>
        </p:txBody>
      </p:sp>
      <p:sp>
        <p:nvSpPr>
          <p:cNvPr id="26" name="Text 4"/>
          <p:cNvSpPr/>
          <p:nvPr/>
        </p:nvSpPr>
        <p:spPr>
          <a:xfrm>
            <a:off x="952476" y="1991916"/>
            <a:ext cx="524496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1. Аудит живого диалога (в реальном времени):</a:t>
            </a:r>
            <a:endParaRPr lang="en-US" sz="1200" dirty="0"/>
          </a:p>
        </p:txBody>
      </p:sp>
      <p:sp>
        <p:nvSpPr>
          <p:cNvPr id="27" name="Text 5"/>
          <p:cNvSpPr/>
          <p:nvPr/>
        </p:nvSpPr>
        <p:spPr>
          <a:xfrm>
            <a:off x="952476" y="2400201"/>
            <a:ext cx="4635384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Точное установление адреса и ориентиров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Выяснение наличия и состояния пострадавших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Первая помощь и медицинский инструктаж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Своевременное направление экстренных служб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Использование регламентных успокаивающих фраз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952476" y="4250829"/>
            <a:ext cx="524496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2. Проверка итоговой карточки происшествия:</a:t>
            </a:r>
            <a:endParaRPr lang="en-US" sz="1200" dirty="0"/>
          </a:p>
        </p:txBody>
      </p:sp>
      <p:sp>
        <p:nvSpPr>
          <p:cNvPr id="29" name="Text 7"/>
          <p:cNvSpPr/>
          <p:nvPr/>
        </p:nvSpPr>
        <p:spPr>
          <a:xfrm>
            <a:off x="952476" y="4659114"/>
            <a:ext cx="4635384" cy="949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Фактическая точность и полнота ключевых полей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Соблюдение делового стиля изложения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 правила 100 символов в описании</a:t>
            </a:r>
            <a:endParaRPr lang="en-US" sz="1800" dirty="0"/>
          </a:p>
        </p:txBody>
      </p:sp>
      <p:sp>
        <p:nvSpPr>
          <p:cNvPr id="30" name="Shape 8"/>
          <p:cNvSpPr/>
          <p:nvPr/>
        </p:nvSpPr>
        <p:spPr>
          <a:xfrm>
            <a:off x="6159346" y="1092200"/>
            <a:ext cx="5397365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31" name="Text 9"/>
          <p:cNvSpPr/>
          <p:nvPr/>
        </p:nvSpPr>
        <p:spPr>
          <a:xfrm>
            <a:off x="6476838" y="1384300"/>
            <a:ext cx="4762381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Практическая ценность для 112</a:t>
            </a:r>
            <a:endParaRPr lang="en-US" sz="1800" dirty="0"/>
          </a:p>
        </p:txBody>
      </p:sp>
      <p:sp>
        <p:nvSpPr>
          <p:cNvPr id="32" name="Text 10"/>
          <p:cNvSpPr/>
          <p:nvPr/>
        </p:nvSpPr>
        <p:spPr>
          <a:xfrm>
            <a:off x="6476838" y="1991916"/>
            <a:ext cx="4762381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Безопасное погружение в стресс: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операторы учатся работать с криками, растерянностью и агрессией без риска навредить реальным заявителям.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Объективный автоматический контроль: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алгоритм беспристрастно фиксирует пропущенные пункты регламента и вычисляет итоговый скоринг.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Экономия времени наставников: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методисты получают готовый протокол звонка и фокусно разбирают конкретные ошибки курсанта.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Масштабируемость: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конструктор сценариев адаптирует тренировки к разным типам ЧС.</a:t>
            </a:r>
            <a:endParaRPr lang="en-US" sz="1800" dirty="0"/>
          </a:p>
        </p:txBody>
      </p:sp>
      <p:sp>
        <p:nvSpPr>
          <p:cNvPr id="33" name="Text 11"/>
          <p:cNvSpPr/>
          <p:nvPr/>
        </p:nvSpPr>
        <p:spPr>
          <a:xfrm>
            <a:off x="11646204" y="6447582"/>
            <a:ext cx="54549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 dirty="0"/>
          </a:p>
        </p:txBody>
      </p:sp>
      <p:sp>
        <p:nvSpPr>
          <p:cNvPr id="34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477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5289" y="233439"/>
            <a:ext cx="3290471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933" y="383309"/>
            <a:ext cx="544816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РАЗВИТИЕ И КОНТАКТЫ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5289" y="1119909"/>
            <a:ext cx="5968851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78181" y="1437409"/>
            <a:ext cx="5283068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Планы дальнейшего развития</a:t>
            </a:r>
            <a:endParaRPr lang="en-US" sz="1900" dirty="0"/>
          </a:p>
        </p:txBody>
      </p:sp>
      <p:sp>
        <p:nvSpPr>
          <p:cNvPr id="26" name="Text 4"/>
          <p:cNvSpPr/>
          <p:nvPr/>
        </p:nvSpPr>
        <p:spPr>
          <a:xfrm>
            <a:off x="978181" y="2085704"/>
            <a:ext cx="5283068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Расширение библиотеки сценариев: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добавление сложных многоуровневых ЧС (масштабные пожары, завалы, комбинированные вызовы с несколькими заявителями).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Разнообразие речевых профилей: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расширение голосовых моделей Silero (акценты, детский голос, дефекты речи, фоновые помехи сирен и улицы).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Интеграция с реальными контурами ДДС: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экспорт результатов обучения в кадровые системы и системы мониторинга готовности дежурных смен.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Групповая аналитика: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дашборд прогресса учебных групп операторов с тепловыми картами типичных ошибок.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7201025" y="1688234"/>
            <a:ext cx="40131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800" dirty="0"/>
          </a:p>
        </p:txBody>
      </p:sp>
      <p:sp>
        <p:nvSpPr>
          <p:cNvPr id="34" name="Text 11"/>
          <p:cNvSpPr/>
          <p:nvPr/>
        </p:nvSpPr>
        <p:spPr>
          <a:xfrm>
            <a:off x="11614958" y="6475291"/>
            <a:ext cx="577042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812" y="6384067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Shape 2"/>
          <p:cNvSpPr/>
          <p:nvPr/>
        </p:nvSpPr>
        <p:spPr>
          <a:xfrm>
            <a:off x="7740586" y="1177067"/>
            <a:ext cx="3950871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37" name="Text 3"/>
          <p:cNvSpPr/>
          <p:nvPr/>
        </p:nvSpPr>
        <p:spPr>
          <a:xfrm>
            <a:off x="7882363" y="1331344"/>
            <a:ext cx="2139092" cy="395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1900" b="1" dirty="0" smtClean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Контакты</a:t>
            </a:r>
            <a:endParaRPr lang="en-US" sz="1900" dirty="0"/>
          </a:p>
        </p:txBody>
      </p:sp>
      <p:sp>
        <p:nvSpPr>
          <p:cNvPr id="39" name="Text 4"/>
          <p:cNvSpPr/>
          <p:nvPr/>
        </p:nvSpPr>
        <p:spPr>
          <a:xfrm>
            <a:off x="7882363" y="1972247"/>
            <a:ext cx="3238219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800" dirty="0" smtClean="0"/>
              <a:t>@</a:t>
            </a:r>
            <a:r>
              <a:rPr lang="en-US" dirty="0"/>
              <a:t>E</a:t>
            </a:r>
            <a:r>
              <a:rPr lang="en-US" sz="1800" dirty="0" smtClean="0"/>
              <a:t>verrain_17 – </a:t>
            </a:r>
            <a:r>
              <a:rPr lang="en-US" dirty="0" smtClean="0"/>
              <a:t>Telegram</a:t>
            </a:r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800" dirty="0" smtClean="0">
                <a:hlinkClick r:id="rId2"/>
              </a:rPr>
              <a:t>drevonenko@gmail.com</a:t>
            </a:r>
            <a:endParaRPr lang="en-US" sz="1800" dirty="0" smtClean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dirty="0" smtClean="0"/>
              <a:t>+79628779893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6203458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11150</TotalTime>
  <Words>921</Words>
  <Application>Microsoft Office PowerPoint</Application>
  <PresentationFormat>Широкоэкранный</PresentationFormat>
  <Paragraphs>138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Amatic SC</vt:lpstr>
      <vt:lpstr>Arial</vt:lpstr>
      <vt:lpstr>Calibri</vt:lpstr>
      <vt:lpstr>Montserrat</vt:lpstr>
      <vt:lpstr>Montserrat Bold</vt:lpstr>
      <vt:lpstr>Wingdings</vt:lpstr>
      <vt:lpstr>Для Академия инноваторов 16_9</vt:lpstr>
      <vt:lpstr>Презентация PowerPoint</vt:lpstr>
      <vt:lpstr>PINK PONY CLUB</vt:lpstr>
      <vt:lpstr>Команда  “Pink Pony Club”</vt:lpstr>
      <vt:lpstr>Команда «Pink Pony Club»</vt:lpstr>
      <vt:lpstr>Команда «Pink Pony Club»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Everrain</cp:lastModifiedBy>
  <cp:revision>106</cp:revision>
  <dcterms:created xsi:type="dcterms:W3CDTF">2023-05-15T07:36:23Z</dcterms:created>
  <dcterms:modified xsi:type="dcterms:W3CDTF">2026-09-29T15:09:02Z</dcterms:modified>
</cp:coreProperties>
</file>